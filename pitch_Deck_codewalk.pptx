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embeddedFontLst>
    <p:embeddedFont>
      <p:font typeface="Calibri" panose="020F0502020204030204" charset="0"/>
      <p:regular r:id="rId15"/>
      <p:bold r:id="rId16"/>
      <p:italic r:id="rId17"/>
      <p:boldItalic r:id="rId18"/>
    </p:embeddedFont>
    <p:embeddedFont>
      <p:font typeface="Calibri" panose="020F0502020204030204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7"/>
  </p:normalViewPr>
  <p:slideViewPr>
    <p:cSldViewPr snapToGrid="0">
      <p:cViewPr varScale="1">
        <p:scale>
          <a:sx n="124" d="100"/>
          <a:sy n="124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463040" y="3931920"/>
            <a:ext cx="3657600" cy="3657600"/>
          </a:xfrm>
          <a:prstGeom prst="ellipse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9875520" y="-1371600"/>
            <a:ext cx="3840480" cy="3840480"/>
          </a:xfrm>
          <a:prstGeom prst="ellipse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731520" y="2240280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</a:pPr>
            <a:r>
              <a:rPr lang="en-IN" altLang="en-US" sz="6000" b="1" i="0" u="none" strike="noStrike" cap="none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CodeWalk</a:t>
            </a:r>
            <a:endParaRPr lang="en-IN" altLang="en-US" sz="6000" b="1" i="0" u="none" strike="noStrike" cap="none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280160" y="3611880"/>
            <a:ext cx="9631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 panose="020F0502020204030204"/>
              <a:buNone/>
            </a:pPr>
            <a:r>
              <a:rPr lang="en-US" altLang="en-US" sz="1800" b="0" i="0" u="none" strike="noStrike" cap="none">
                <a:solidFill>
                  <a:srgbClr val="FFFFFF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AI-powered tool that automates technical interview question generation </a:t>
            </a:r>
            <a:endParaRPr lang="en-US" altLang="en-US" sz="1800" b="0" i="0" u="none" strike="noStrike" cap="none">
              <a:solidFill>
                <a:srgbClr val="FFFFFF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16" name="Google Shape;16;p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991333" y="4343400"/>
            <a:ext cx="585216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3169920" y="4343400"/>
            <a:ext cx="616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IN" altLang="en-US" b="1" i="0" u="none" strike="noStrike" cap="none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Harshvardhan Modi</a:t>
            </a:r>
            <a:r>
              <a:rPr lang="en-US" b="1" i="0" u="none" strike="noStrike" cap="none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  ·  </a:t>
            </a:r>
            <a:r>
              <a:rPr lang="en-IN" altLang="en-US" b="1" i="0" u="none" strike="noStrike" cap="none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Nikhil Singhal</a:t>
            </a:r>
            <a:r>
              <a:rPr lang="en-US" b="1" i="0" u="none" strike="noStrike" cap="none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 </a:t>
            </a:r>
            <a:endParaRPr lang="en-US" b="1" i="0" u="none" strike="noStrike" cap="none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98043" y="964311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872363" y="1037463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The Team</a:t>
            </a:r>
            <a:endParaRPr lang="en-US" sz="27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238250" y="1638300"/>
            <a:ext cx="3246120" cy="466217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0" name="Google Shape;30;p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78253" y="2143887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38857" y="2345055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1100963" y="3133725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Founder</a:t>
            </a:r>
            <a:endParaRPr lang="en-US" sz="15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238250" y="3415030"/>
            <a:ext cx="3246120" cy="55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 panose="020F0502020204030204"/>
              <a:buNone/>
            </a:pPr>
            <a:r>
              <a:rPr lang="en-US" altLang="en-US" sz="1200" b="1">
                <a:solidFill>
                  <a:srgbClr val="C8186B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Name: Harsh</a:t>
            </a:r>
            <a:r>
              <a:rPr lang="en-IN" altLang="en-US" sz="1200" b="1">
                <a:solidFill>
                  <a:srgbClr val="C8186B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v</a:t>
            </a:r>
            <a:r>
              <a:rPr lang="en-US" altLang="en-US" sz="1200" b="1">
                <a:solidFill>
                  <a:srgbClr val="C8186B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ardhan Modi</a:t>
            </a:r>
            <a:endParaRPr lang="en-US" altLang="en-US" sz="1200" b="1">
              <a:solidFill>
                <a:srgbClr val="C8186B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 panose="020F0502020204030204"/>
              <a:buNone/>
            </a:pPr>
            <a:endParaRPr lang="en-US" altLang="en-US" sz="1200" b="1">
              <a:solidFill>
                <a:srgbClr val="C8186B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 panose="020F0502020204030204"/>
              <a:buNone/>
            </a:pPr>
            <a:r>
              <a:rPr lang="en-US" altLang="en-US" sz="1200" b="1">
                <a:solidFill>
                  <a:srgbClr val="C8186B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Role: Founder &amp; CEO</a:t>
            </a:r>
            <a:endParaRPr lang="en-US" altLang="en-US" sz="1200" b="1">
              <a:solidFill>
                <a:srgbClr val="C8186B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430655" y="3707130"/>
            <a:ext cx="2902585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Founder and product visionary behind CodeWalk</a:t>
            </a:r>
            <a:endParaRPr lang="en-US" altLang="en-US" sz="1600" i="1"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Leads product vision, AI development, and full-stack engineering.</a:t>
            </a:r>
            <a:endParaRPr lang="en-US" altLang="en-US" sz="1600" i="1"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Focused on creating practical AI products with real-world impact.</a:t>
            </a:r>
            <a:endParaRPr lang="en-US" altLang="en-US" sz="1600" i="1"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998335" y="1567815"/>
            <a:ext cx="3246120" cy="464248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6" name="Google Shape;36;p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53273" y="2132457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13877" y="233807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7021703" y="3168015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Co-Founder</a:t>
            </a:r>
            <a:endParaRPr lang="en-US" sz="15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986270" y="3552190"/>
            <a:ext cx="3246120" cy="36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 panose="020F0502020204030204"/>
              <a:buNone/>
            </a:pPr>
            <a:r>
              <a:rPr lang="en-IN" altLang="en-US" sz="1200" b="1">
                <a:solidFill>
                  <a:srgbClr val="C8186B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Name: Nikhil Singhal </a:t>
            </a:r>
            <a:endParaRPr lang="en-IN" altLang="en-US" sz="1200" b="1">
              <a:solidFill>
                <a:srgbClr val="C8186B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 panose="020F0502020204030204"/>
              <a:buNone/>
            </a:pPr>
            <a:endParaRPr lang="en-IN" altLang="en-US" sz="1200" b="1">
              <a:solidFill>
                <a:srgbClr val="C8186B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 panose="020F0502020204030204"/>
              <a:buNone/>
            </a:pPr>
            <a:r>
              <a:rPr lang="en-IN" altLang="en-US" sz="1200" b="1">
                <a:solidFill>
                  <a:srgbClr val="C8186B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Role: Co-Founder &amp; CTO</a:t>
            </a:r>
            <a:endParaRPr lang="en-IN" altLang="en-US" sz="1200" b="1">
              <a:solidFill>
                <a:srgbClr val="C8186B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236460" y="4095750"/>
            <a:ext cx="2940050" cy="225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Co-founder responsible for technical development and platform architecture.</a:t>
            </a:r>
            <a:endParaRPr lang="en-US" altLang="en-US" sz="1600" i="1"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Oversees backend systems, infrastructure, and technical execution.</a:t>
            </a:r>
            <a:endParaRPr lang="en-US" altLang="en-US" sz="1600" i="1"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Focused on building scalable AI-powered solutions</a:t>
            </a:r>
            <a:r>
              <a:rPr lang="en-IN" altLang="en-US" sz="1600" i="1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.</a:t>
            </a:r>
            <a:endParaRPr lang="en-IN" altLang="en-US" sz="1600" i="1"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795528" y="10195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The Problem</a:t>
            </a:r>
            <a:endParaRPr lang="en-US" sz="27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66928" y="1965960"/>
            <a:ext cx="6126480" cy="1033272"/>
          </a:xfrm>
          <a:prstGeom prst="roundRect">
            <a:avLst>
              <a:gd name="adj" fmla="val 1282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6" name="Google Shape;56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49808" y="2126107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749808" y="2099437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1</a:t>
            </a:r>
            <a:endParaRPr lang="en-US" sz="140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316990" y="1828165"/>
            <a:ext cx="5212080" cy="155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Calibri" panose="020F0502020204030204"/>
              <a:buNone/>
            </a:pPr>
            <a:r>
              <a:rPr lang="en-US" altLang="en-US" sz="18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Traditional tech hiring relies on artificial algorithmic puzzles that don't reflect real job duties. Engineering teams waste 100+ hours conducting manual codebase walkthroughs, leading to slow hiring cycles and candidate mismatch.</a:t>
            </a:r>
            <a:endParaRPr lang="en-US" altLang="en-US" sz="18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66928" y="3379724"/>
            <a:ext cx="6126480" cy="1033272"/>
          </a:xfrm>
          <a:prstGeom prst="roundRect">
            <a:avLst>
              <a:gd name="adj" fmla="val 1282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60" name="Google Shape;60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49808" y="4261739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749808" y="421728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2</a:t>
            </a:r>
            <a:endParaRPr lang="en-US" sz="140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316990" y="3731260"/>
            <a:ext cx="5212080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Calibri" panose="020F0502020204030204"/>
              <a:buNone/>
            </a:pPr>
            <a:r>
              <a:rPr lang="en-US" altLang="en-GB" sz="18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Technical recruiters and HR teams spend hours manually reviewing GitHub repositories, creating interview questions, and relying on generic coding tests or intuition to assess candidates</a:t>
            </a:r>
            <a:endParaRPr lang="en-US" altLang="en-GB" sz="18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67" name="Google Shape;67;p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013448" y="1965960"/>
            <a:ext cx="4611319" cy="38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306056" y="22768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306056" y="2807208"/>
            <a:ext cx="41541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KEY STAT</a:t>
            </a:r>
            <a:endParaRPr lang="en-US" sz="105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306310" y="3063240"/>
            <a:ext cx="4025900" cy="135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en-US" altLang="en-US" sz="2400">
                <a:solidFill>
                  <a:schemeClr val="bg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72% of recruiters say manual screening slows hiring;</a:t>
            </a:r>
            <a:endParaRPr lang="en-US" altLang="en-US" sz="2400">
              <a:solidFill>
                <a:schemeClr val="bg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306056" y="4542409"/>
            <a:ext cx="4026103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IN" altLang="en-US" sz="1600">
                <a:solidFill>
                  <a:schemeClr val="bg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DataSource- </a:t>
            </a:r>
            <a:r>
              <a:rPr lang="en-US" altLang="en-US" sz="1600">
                <a:solidFill>
                  <a:schemeClr val="bg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Totaljobs Hiring Health Scorecard (2025)</a:t>
            </a:r>
            <a:endParaRPr lang="en-US" altLang="en-US" sz="1600">
              <a:solidFill>
                <a:schemeClr val="bg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800100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The Solution</a:t>
            </a:r>
            <a:endParaRPr lang="en-US" sz="27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66928" y="179705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700"/>
              <a:buFont typeface="Montserrat"/>
              <a:buNone/>
            </a:pPr>
            <a:r>
              <a:rPr lang="en-IN" altLang="en-US" sz="2000" b="1">
                <a:solidFill>
                  <a:srgbClr val="7A23BE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CodeWalk</a:t>
            </a:r>
            <a:endParaRPr lang="en-IN" altLang="en-US" sz="2000" b="1">
              <a:solidFill>
                <a:srgbClr val="7A23BE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700"/>
              <a:buFont typeface="Montserrat"/>
              <a:buNone/>
            </a:pPr>
            <a:endParaRPr lang="en-IN" altLang="en-US" sz="2000" b="1">
              <a:solidFill>
                <a:srgbClr val="7A23BE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67055" y="2170430"/>
            <a:ext cx="1000633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250"/>
              <a:buFont typeface="Calibri" panose="020F0502020204030204"/>
              <a:buNone/>
            </a:pPr>
            <a:r>
              <a:rPr lang="en-US" altLang="en-US" sz="1800" dirty="0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CodeWalk AI transforms company codebases into interactive AI-driven interviews. It automatically parses repos, generates contextual questions, proctors sessions, and evaluates candidates' real-world codebase comprehension and coding ability.</a:t>
            </a:r>
            <a:endParaRPr lang="en-US" altLang="en-US" sz="1800" dirty="0"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83" name="Google Shape;8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6928" y="3289300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4652" y="3367024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1024128" y="3274314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Calibri" panose="020F0502020204030204"/>
              <a:buNone/>
            </a:pPr>
            <a:r>
              <a:rPr lang="en-US" sz="1300" b="1" dirty="0">
                <a:solidFill>
                  <a:srgbClr val="1B183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Interview prep time drops from hours to under 2</a:t>
            </a:r>
            <a:r>
              <a:rPr lang="en-IN" altLang="en-US" sz="1300" b="1" dirty="0">
                <a:solidFill>
                  <a:srgbClr val="1B183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0-30</a:t>
            </a:r>
            <a:r>
              <a:rPr lang="en-US" sz="1300" b="1" dirty="0">
                <a:solidFill>
                  <a:srgbClr val="1B183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N" altLang="en-US" sz="1300" b="1" dirty="0">
                <a:solidFill>
                  <a:srgbClr val="1B183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seconds </a:t>
            </a:r>
            <a:r>
              <a:rPr lang="en-US" sz="1300" b="1" dirty="0">
                <a:solidFill>
                  <a:srgbClr val="1B183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 candidate</a:t>
            </a:r>
            <a:endParaRPr lang="en-US" sz="1300" b="1" dirty="0">
              <a:solidFill>
                <a:srgbClr val="1B1838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86" name="Google Shape;86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6928" y="3975608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4652" y="4053332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024128" y="3939032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Calibri" panose="020F0502020204030204"/>
              <a:buNone/>
            </a:pPr>
            <a:r>
              <a:rPr lang="en-US" sz="1300" b="1" dirty="0">
                <a:solidFill>
                  <a:srgbClr val="1B183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Questions are grounded in real code, so candidates can't rehearse or fake their way through</a:t>
            </a:r>
            <a:endParaRPr lang="en-US" sz="1300" b="1" dirty="0">
              <a:solidFill>
                <a:srgbClr val="1B1838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89" name="Google Shape;89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6928" y="4745736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4652" y="4823460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1024128" y="4709160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Calibri" panose="020F0502020204030204"/>
              <a:buNone/>
            </a:pPr>
            <a:r>
              <a:rPr lang="en-US" sz="1300" b="1" dirty="0">
                <a:solidFill>
                  <a:srgbClr val="1B183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Questions are grounded in real code, so candidates can't rehearse or fake their way through</a:t>
            </a:r>
            <a:endParaRPr lang="en-US" sz="1300" b="1" dirty="0">
              <a:solidFill>
                <a:srgbClr val="1B1838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92" name="Google Shape;92;p6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56235" y="5479415"/>
            <a:ext cx="5080635" cy="741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264795" y="5516245"/>
            <a:ext cx="517207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CURRENT STAGE  </a:t>
            </a:r>
            <a:endParaRPr lang="en-US" b="1" dirty="0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Product Ready </a:t>
            </a:r>
            <a:endParaRPr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96" name="Google Shape;96;p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063076" y="3136392"/>
            <a:ext cx="219456" cy="219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777240" y="10012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Product / Service – How It Works</a:t>
            </a:r>
            <a:endParaRPr lang="en-US" sz="27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66928" y="1874520"/>
            <a:ext cx="5577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HOW IT WORKS</a:t>
            </a:r>
            <a:endParaRPr lang="en-US" sz="1050" b="1">
              <a:solidFill>
                <a:srgbClr val="C8186B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pic>
        <p:nvPicPr>
          <p:cNvPr id="108" name="Google Shape;108;p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6928" y="224028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566928" y="22402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1</a:t>
            </a:r>
            <a:endParaRPr lang="en-US" sz="160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151890" y="1934210"/>
            <a:ext cx="9316085" cy="118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Montserrat"/>
              <a:buNone/>
            </a:pPr>
            <a:r>
              <a:rPr lang="en-US" sz="20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Step 1  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Recruiter picks an interview mode (Technical, HR, Logical, Full Stack, or Custom) and connects the candidate's GitHub repo</a:t>
            </a:r>
            <a:r>
              <a:rPr lang="en-IN" altLang="en-US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or insert the job description</a:t>
            </a:r>
            <a:endParaRPr lang="en-IN" altLang="en-US" sz="20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cxnSp>
        <p:nvCxnSpPr>
          <p:cNvPr id="111" name="Google Shape;111;p7"/>
          <p:cNvCxnSpPr/>
          <p:nvPr/>
        </p:nvCxnSpPr>
        <p:spPr>
          <a:xfrm>
            <a:off x="777240" y="2660904"/>
            <a:ext cx="0" cy="1362456"/>
          </a:xfrm>
          <a:prstGeom prst="straightConnector1">
            <a:avLst/>
          </a:prstGeom>
          <a:noFill/>
          <a:ln w="1905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2" name="Google Shape;112;p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6928" y="402336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566928" y="40233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2</a:t>
            </a:r>
            <a:endParaRPr lang="en-US" sz="160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170305" y="3792220"/>
            <a:ext cx="9297035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Montserrat"/>
              <a:buNone/>
            </a:pPr>
            <a:r>
              <a:rPr lang="en-US" sz="20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Step 2  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CodeWalk's AI generates a tailored question set for that mode in under </a:t>
            </a:r>
            <a:r>
              <a:rPr lang="en-IN" altLang="en-US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20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</a:t>
            </a:r>
            <a:r>
              <a:rPr lang="en-IN" altLang="en-US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seconds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</a:t>
            </a:r>
            <a:r>
              <a:rPr lang="en-IN" altLang="en-US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-</a:t>
            </a:r>
            <a:r>
              <a:rPr lang="en-US" altLang="en-GB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grounded in the candidate's real code</a:t>
            </a:r>
            <a:r>
              <a:rPr lang="en-IN" altLang="en-US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or based on the job description</a:t>
            </a:r>
            <a:endParaRPr lang="en-IN" altLang="en-US" sz="20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cxnSp>
        <p:nvCxnSpPr>
          <p:cNvPr id="115" name="Google Shape;115;p7"/>
          <p:cNvCxnSpPr/>
          <p:nvPr/>
        </p:nvCxnSpPr>
        <p:spPr>
          <a:xfrm>
            <a:off x="777240" y="4443984"/>
            <a:ext cx="0" cy="1069848"/>
          </a:xfrm>
          <a:prstGeom prst="straightConnector1">
            <a:avLst/>
          </a:prstGeom>
          <a:noFill/>
          <a:ln w="1905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p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6928" y="5513832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566928" y="55138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3</a:t>
            </a:r>
            <a:endParaRPr lang="en-US" sz="160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207135" y="5348605"/>
            <a:ext cx="9530715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Montserrat"/>
              <a:buNone/>
            </a:pPr>
            <a:r>
              <a:rPr lang="en-US" sz="20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Step 3</a:t>
            </a:r>
            <a:r>
              <a:rPr lang="en-IN" altLang="en-US" sz="20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 sz="20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The recruiter gets a structured, code‑anchored interview question set — with difficulty labels, expected answers, code snippets, and a PDF scorecard — ready to use immediately.</a:t>
            </a:r>
            <a:endParaRPr lang="en-US" altLang="en-US" sz="20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739128" y="3726180"/>
            <a:ext cx="4611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endParaRPr lang="en-US" sz="105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841248" y="101498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Market Opportunity</a:t>
            </a:r>
            <a:endParaRPr lang="en-US" sz="27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pic>
        <p:nvPicPr>
          <p:cNvPr id="133" name="Google Shape;133;p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7055" y="1818640"/>
            <a:ext cx="5363845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/>
          <p:nvPr/>
        </p:nvSpPr>
        <p:spPr>
          <a:xfrm>
            <a:off x="740283" y="2081022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IN" altLang="en-US" sz="1800" b="1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 </a:t>
            </a:r>
            <a:r>
              <a:rPr lang="en-US" sz="1800" b="1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TAM  </a:t>
            </a:r>
            <a:r>
              <a:rPr lang="en-IN" altLang="en-US" sz="1800" b="1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[ ₹</a:t>
            </a:r>
            <a:r>
              <a:rPr lang="en-IN" altLang="en-US" sz="1600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21,500 Crore</a:t>
            </a:r>
            <a:r>
              <a:rPr lang="en-US" sz="1600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]</a:t>
            </a:r>
            <a:r>
              <a:rPr lang="en-IN" altLang="en-US" sz="1600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(Worldwide)	</a:t>
            </a:r>
            <a:endParaRPr lang="en-IN" altLang="en-US" sz="1600" dirty="0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IN" altLang="en-US" sz="1600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               [ </a:t>
            </a:r>
            <a:r>
              <a:rPr lang="en-US" altLang="en-US" sz="1600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₹2,765 Crore</a:t>
            </a:r>
            <a:r>
              <a:rPr lang="en-IN" altLang="en-US" sz="1600" dirty="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] (India)</a:t>
            </a:r>
            <a:endParaRPr lang="en-IN" altLang="en-US" sz="1600" dirty="0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pic>
        <p:nvPicPr>
          <p:cNvPr id="136" name="Google Shape;136;p8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7055" y="2703195"/>
            <a:ext cx="4848225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841248" y="2968625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8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SAM    </a:t>
            </a:r>
            <a:r>
              <a:rPr 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[ ₹ </a:t>
            </a:r>
            <a:r>
              <a:rPr lang="en-IN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₹5,000–6,000 Crore</a:t>
            </a:r>
            <a:r>
              <a:rPr 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]</a:t>
            </a:r>
            <a:r>
              <a:rPr lang="en-IN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(Worldwide)</a:t>
            </a:r>
            <a:endParaRPr lang="en-IN" altLang="en-US" sz="1600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IN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               [</a:t>
            </a:r>
            <a:r>
              <a:rPr lang="en-US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₹700–1,000 Crore</a:t>
            </a:r>
            <a:r>
              <a:rPr lang="en-IN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] (India)</a:t>
            </a:r>
            <a:endParaRPr lang="en-IN" altLang="en-US" sz="1600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pic>
        <p:nvPicPr>
          <p:cNvPr id="139" name="Google Shape;139;p8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67055" y="3556635"/>
            <a:ext cx="4664710" cy="64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/>
          <p:nvPr/>
        </p:nvSpPr>
        <p:spPr>
          <a:xfrm>
            <a:off x="890905" y="3616960"/>
            <a:ext cx="3550920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8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SOM    </a:t>
            </a:r>
            <a:r>
              <a:rPr 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[ ₹ </a:t>
            </a:r>
            <a:r>
              <a:rPr lang="en-IN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₹50–100 Crore</a:t>
            </a:r>
            <a:r>
              <a:rPr 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]</a:t>
            </a:r>
            <a:r>
              <a:rPr lang="en-IN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(Worldwide)</a:t>
            </a:r>
            <a:endParaRPr lang="en-IN" altLang="en-US" sz="1600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IN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   [</a:t>
            </a:r>
            <a:r>
              <a:rPr lang="en-US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₹10–25 Crore</a:t>
            </a:r>
            <a:r>
              <a:rPr lang="en-IN" altLang="en-US" sz="1600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] (India)</a:t>
            </a:r>
            <a:endParaRPr lang="en-IN" altLang="en-US" sz="1600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693408" y="1965960"/>
            <a:ext cx="4931359" cy="1974088"/>
          </a:xfrm>
          <a:prstGeom prst="roundRect">
            <a:avLst>
              <a:gd name="adj" fmla="val 7742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44" name="Google Shape;144;p8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967728" y="1722120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118604" y="18729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7607808" y="1803273"/>
            <a:ext cx="37426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Why now?</a:t>
            </a:r>
            <a:endParaRPr lang="en-US" sz="16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967855" y="2387600"/>
            <a:ext cx="4657090" cy="178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 panose="020F0502020204030204"/>
              <a:buNone/>
            </a:pPr>
            <a:r>
              <a:rPr lang="en-IN" altLang="en-US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T</a:t>
            </a:r>
            <a:r>
              <a:rPr lang="en-US" altLang="en-US">
                <a:solidFill>
                  <a:schemeClr val="tx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raditional technical interviews are failing. 48% of candidates now use AI to cheat in coding interviews, and 93% are never asked a single AI-related question. Recruiters are overwhelmed, generic questions are easily gamed, and trust in technical hiring is eroding. CodeWalk solves this by delivering AI-proof, code-specific, interview-ready questions in seconds — built for the AI era."</a:t>
            </a:r>
            <a:endParaRPr lang="en-US" altLang="en-US">
              <a:solidFill>
                <a:schemeClr val="tx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693408" y="4379976"/>
            <a:ext cx="4931359" cy="1974088"/>
          </a:xfrm>
          <a:prstGeom prst="roundRect">
            <a:avLst>
              <a:gd name="adj" fmla="val 7742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49" name="Google Shape;149;p8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967728" y="4520184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118604" y="46253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653528" y="4553712"/>
            <a:ext cx="37426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600"/>
              <a:buFont typeface="Montserrat"/>
              <a:buNone/>
            </a:pPr>
            <a:r>
              <a:rPr lang="en-IN" altLang="en-US" sz="16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E</a:t>
            </a:r>
            <a:r>
              <a:rPr lang="en-US" sz="16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arly adopters?</a:t>
            </a:r>
            <a:endParaRPr lang="en-US" sz="16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967855" y="5022850"/>
            <a:ext cx="4382770" cy="131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 panose="020F0502020204030204"/>
              <a:buNone/>
            </a:pPr>
            <a:r>
              <a:rPr lang="en-US" alt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College placement cells running high-volume campus drives, and small-to-mid IT staffing/recruitment agencies who screen technical candidates without a dedicated in-house recruiting team.</a:t>
            </a:r>
            <a:endParaRPr lang="en-US" altLang="en-GB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821283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Business Model</a:t>
            </a:r>
            <a:endParaRPr lang="en-US" sz="27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75767" y="189738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63" name="Google Shape;163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78787" y="202311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9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70811" y="22494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/>
          <p:nvPr/>
        </p:nvSpPr>
        <p:spPr>
          <a:xfrm>
            <a:off x="575767" y="275005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Who pays?</a:t>
            </a:r>
            <a:endParaRPr lang="en-US" sz="15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90905" y="2994660"/>
            <a:ext cx="2823845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 panose="020F0502020204030204"/>
              <a:buNone/>
            </a:pPr>
            <a:r>
              <a:rPr lang="en-US" altLang="en-US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Corporate HR &amp; Talent Acquisition Teams</a:t>
            </a:r>
            <a:r>
              <a:rPr lang="en-IN" altLang="en-US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, </a:t>
            </a:r>
            <a:r>
              <a:rPr lang="en-US" altLang="en-US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startups and tech</a:t>
            </a:r>
            <a:r>
              <a:rPr lang="en-IN" altLang="en-US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- </a:t>
            </a:r>
            <a:r>
              <a:rPr lang="en-US" altLang="en-US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first organisations </a:t>
            </a:r>
            <a:endParaRPr lang="en-US" altLang="en-US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167" name="Google Shape;167;p9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986479" y="27660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/>
          <p:nvPr/>
        </p:nvSpPr>
        <p:spPr>
          <a:xfrm>
            <a:off x="4461967" y="189738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69" name="Google Shape;169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64987" y="201168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9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957011" y="223799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/>
          <p:nvPr/>
        </p:nvSpPr>
        <p:spPr>
          <a:xfrm>
            <a:off x="4461967" y="268147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How they pay?</a:t>
            </a:r>
            <a:endParaRPr lang="en-US" sz="15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406265" y="2773680"/>
            <a:ext cx="3341370" cy="107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 panose="020F0502020204030204"/>
              <a:buNone/>
            </a:pPr>
            <a:r>
              <a:rPr lang="en-US" altLang="en-US" sz="125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Pro – ₹3,999/month or ₹39,990/year</a:t>
            </a:r>
            <a:endParaRPr lang="en-US" altLang="en-US" sz="125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 panose="020F0502020204030204"/>
              <a:buNone/>
            </a:pPr>
            <a:r>
              <a:rPr lang="en-US" altLang="en-US" sz="125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Business – ₹12,999/month or ₹1,29,990/year</a:t>
            </a:r>
            <a:endParaRPr lang="en-US" altLang="en-US" sz="125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 panose="020F0502020204030204"/>
              <a:buNone/>
            </a:pPr>
            <a:r>
              <a:rPr lang="en-US" altLang="en-US" sz="125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Enterprise – Custom (₹50,000–1,00,000+/month)</a:t>
            </a:r>
            <a:endParaRPr lang="en-US" altLang="en-US" sz="125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173" name="Google Shape;173;p9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872679" y="27660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8348167" y="189738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75" name="Google Shape;175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651187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9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843211" y="22951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8348167" y="277291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Revenue per customer?</a:t>
            </a:r>
            <a:endParaRPr lang="en-US" sz="15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348980" y="3079115"/>
            <a:ext cx="3213100" cy="77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 panose="020F0502020204030204"/>
              <a:buNone/>
            </a:pPr>
            <a:r>
              <a:rPr lang="en-US" altLang="en-US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Revenue Per Customer (Year 1)</a:t>
            </a:r>
            <a:br>
              <a:rPr lang="en-US" altLang="en-US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</a:br>
            <a:r>
              <a:rPr lang="en-IN" altLang="en-US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Pro - </a:t>
            </a:r>
            <a:r>
              <a:rPr lang="en-US" altLang="en-US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₹39,990/year</a:t>
            </a:r>
            <a:endParaRPr lang="en-US" altLang="en-US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 panose="020F0502020204030204"/>
              <a:buNone/>
            </a:pPr>
            <a:r>
              <a:rPr lang="en-IN" altLang="en-US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Business - </a:t>
            </a:r>
            <a:r>
              <a:rPr lang="en-US" altLang="en-US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₹</a:t>
            </a:r>
            <a:r>
              <a:rPr lang="en-IN" altLang="en-US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1,29,990/year</a:t>
            </a:r>
            <a:endParaRPr lang="en-IN" altLang="en-US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18363" y="4203700"/>
            <a:ext cx="5391760" cy="20116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80" name="Google Shape;180;p9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21283" y="44208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958443" y="45694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1415643" y="4432300"/>
            <a:ext cx="429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Unit economics</a:t>
            </a:r>
            <a:endParaRPr lang="en-US" sz="14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48970" y="4953635"/>
            <a:ext cx="5288915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Customer Acquisition Cost (CAC)</a:t>
            </a:r>
            <a:r>
              <a:rPr lang="en-IN" altLang="en-US" sz="16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----  Not much</a:t>
            </a:r>
            <a:endParaRPr lang="en-US" altLang="en-US" sz="16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Arial" panose="020B0604020202020204" pitchFamily="34" charset="0"/>
              <a:buChar char="•"/>
            </a:pPr>
            <a:endParaRPr lang="en-IN" altLang="en-US" sz="16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Gross Margin</a:t>
            </a:r>
            <a:r>
              <a:rPr lang="en-IN" altLang="en-US" sz="16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---- 80- 90%</a:t>
            </a:r>
            <a:endParaRPr lang="en-US" altLang="en-US" sz="16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Arial" panose="020B0604020202020204" pitchFamily="34" charset="0"/>
              <a:buChar char="•"/>
            </a:pPr>
            <a:endParaRPr lang="en-US" altLang="en-US" sz="16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213043" y="4203700"/>
            <a:ext cx="5391760" cy="20116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85" name="Google Shape;185;p9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487363" y="43408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" descr="preencoded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624523" y="448945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7081723" y="4375150"/>
            <a:ext cx="429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Revenue streams</a:t>
            </a:r>
            <a:endParaRPr lang="en-US" sz="14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87160" y="4953635"/>
            <a:ext cx="4843145" cy="1261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SaaS Subscriptions (Pro/Business)</a:t>
            </a:r>
            <a:r>
              <a:rPr lang="en-IN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- Primary</a:t>
            </a:r>
            <a:endParaRPr lang="en-IN" altLang="en-US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Arial" panose="020B0604020202020204" pitchFamily="34" charset="0"/>
              <a:buChar char="•"/>
            </a:pPr>
            <a:endParaRPr lang="en-IN" altLang="en-US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Enterprise Contracts - Future ( Year 2+)</a:t>
            </a:r>
            <a:endParaRPr lang="en-IN" altLang="en-US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Arial" panose="020B0604020202020204" pitchFamily="34" charset="0"/>
              <a:buChar char="•"/>
            </a:pPr>
            <a:endParaRPr lang="en-IN" altLang="en-US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Pay</a:t>
            </a:r>
            <a:r>
              <a:rPr lang="en-IN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-</a:t>
            </a:r>
            <a:r>
              <a:rPr lang="en-US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Per</a:t>
            </a:r>
            <a:r>
              <a:rPr lang="en-IN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-</a:t>
            </a:r>
            <a:r>
              <a:rPr lang="en-US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Analysis (Credits)</a:t>
            </a:r>
            <a:r>
              <a:rPr lang="en-IN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- Future</a:t>
            </a:r>
            <a:endParaRPr lang="en-US" altLang="en-US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 panose="020F0502020204030204"/>
              <a:buNone/>
            </a:pPr>
            <a:endParaRPr lang="en-US" altLang="en-US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841248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Roadmap &amp; Milestones</a:t>
            </a:r>
            <a:endParaRPr lang="en-US" sz="27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1949158" y="2496312"/>
            <a:ext cx="8293379" cy="0"/>
          </a:xfrm>
          <a:prstGeom prst="straightConnector1">
            <a:avLst/>
          </a:prstGeom>
          <a:noFill/>
          <a:ln w="31750" cap="flat" cmpd="sng">
            <a:solidFill>
              <a:srgbClr val="D8D6E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9" name="Google Shape;199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47406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1647406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1</a:t>
            </a:r>
            <a:endParaRPr lang="en-US" sz="220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66928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TODAY</a:t>
            </a:r>
            <a:endParaRPr lang="en-US" sz="1200" b="1">
              <a:solidFill>
                <a:srgbClr val="C8186B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31520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14400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6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Where </a:t>
            </a:r>
            <a:r>
              <a:rPr lang="en-IN" altLang="en-US" sz="16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we</a:t>
            </a:r>
            <a:r>
              <a:rPr lang="en-US" sz="16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are today</a:t>
            </a:r>
            <a:endParaRPr sz="16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32815" y="4004945"/>
            <a:ext cx="2032635" cy="1527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 panose="020F0502020204030204"/>
              <a:buNone/>
            </a:pPr>
            <a:r>
              <a:rPr lang="en-IN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Today - Product Ready</a:t>
            </a:r>
            <a:endParaRPr lang="en-IN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 panose="020F0502020204030204"/>
              <a:buNone/>
            </a:pPr>
            <a:r>
              <a:rPr lang="en-IN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Key achievement - </a:t>
            </a:r>
            <a:r>
              <a:rPr lang="en-US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Live deployment, core features complete, user testing</a:t>
            </a:r>
            <a:endParaRPr lang="en-US" altLang="en-US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205" name="Google Shape;205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11866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4411866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2</a:t>
            </a:r>
            <a:endParaRPr lang="en-US" sz="220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331388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+12 MONTHS</a:t>
            </a:r>
            <a:endParaRPr lang="en-US" sz="1200" b="1">
              <a:solidFill>
                <a:srgbClr val="C8186B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495980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678860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6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Next milestone</a:t>
            </a:r>
            <a:endParaRPr lang="en-US" sz="16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696970" y="4004945"/>
            <a:ext cx="2032635" cy="1355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 panose="020F0502020204030204"/>
              <a:buNone/>
            </a:pPr>
            <a:r>
              <a:rPr lang="en-US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Revenue Stage</a:t>
            </a:r>
            <a:r>
              <a:rPr lang="en-IN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- </a:t>
            </a:r>
            <a:r>
              <a:rPr lang="en-US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50–100 paying customers, recurring revenue</a:t>
            </a:r>
            <a:endParaRPr lang="en-US" altLang="en-US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211" name="Google Shape;211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176326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7176326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3</a:t>
            </a:r>
            <a:endParaRPr lang="en-US" sz="220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095848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+2 YEARS</a:t>
            </a:r>
            <a:endParaRPr lang="en-US" sz="1200" b="1">
              <a:solidFill>
                <a:srgbClr val="C8186B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260440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443320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6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Scaling milestone</a:t>
            </a:r>
            <a:endParaRPr lang="en-US" sz="16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461760" y="4004945"/>
            <a:ext cx="2032635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 panose="020F0502020204030204"/>
              <a:buNone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Scaling</a:t>
            </a:r>
            <a:r>
              <a:rPr lang="en-IN" altLang="en-US" sz="16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-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500+ customers, team expansion, global presence</a:t>
            </a:r>
            <a:endParaRPr lang="en-US" altLang="en-US" sz="160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  <p:pic>
        <p:nvPicPr>
          <p:cNvPr id="217" name="Google Shape;217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940785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9940785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4</a:t>
            </a:r>
            <a:endParaRPr lang="en-US" sz="2200" b="1">
              <a:solidFill>
                <a:srgbClr val="FFFFFF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8860307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+5 YEARS</a:t>
            </a:r>
            <a:endParaRPr lang="en-US" sz="1200" b="1">
              <a:solidFill>
                <a:srgbClr val="C8186B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824239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9024899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600" b="1">
                <a:solidFill>
                  <a:srgbClr val="1B1838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Expansion milestone</a:t>
            </a:r>
            <a:endParaRPr lang="en-US" sz="1600" b="1">
              <a:solidFill>
                <a:srgbClr val="1B1838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8824595" y="3688080"/>
            <a:ext cx="2433955" cy="184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 panose="020F0502020204030204"/>
              <a:buNone/>
            </a:pPr>
            <a:r>
              <a:rPr lang="en-US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Market Leadership</a:t>
            </a:r>
            <a:r>
              <a:rPr lang="en-IN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-</a:t>
            </a:r>
            <a:r>
              <a:rPr lang="en-US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10,000+ customers, autonomous AI interviews, global standard</a:t>
            </a:r>
            <a:r>
              <a:rPr lang="en-IN" altLang="en-US" sz="1600" dirty="0">
                <a:solidFill>
                  <a:schemeClr val="dk1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Calibri" panose="020F0502020204030204"/>
              </a:rPr>
              <a:t> </a:t>
            </a:r>
            <a:endParaRPr lang="en-IN" altLang="en-US" sz="1600" dirty="0">
              <a:solidFill>
                <a:schemeClr val="dk1"/>
              </a:solidFill>
              <a:latin typeface="Calibri" panose="020F0502020204030204" charset="0"/>
              <a:ea typeface="Calibri" panose="020F0502020204030204"/>
              <a:cs typeface="Calibri" panose="020F05020202040302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4031</Words>
  <Application>WPS Presentation</Application>
  <PresentationFormat>Widescreen</PresentationFormat>
  <Paragraphs>163</Paragraphs>
  <Slides>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Montserrat</vt:lpstr>
      <vt:lpstr>Segoe Print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amish</cp:lastModifiedBy>
  <cp:revision>9</cp:revision>
  <dcterms:created xsi:type="dcterms:W3CDTF">2026-07-15T12:59:00Z</dcterms:created>
  <dcterms:modified xsi:type="dcterms:W3CDTF">2026-08-15T08:04:53Z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9E6A91675DE34839998C096CD5A7EF83_13</vt:lpwstr>
  </property>
</Properties>
</file>